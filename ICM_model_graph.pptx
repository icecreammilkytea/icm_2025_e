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794"/>
    <a:srgbClr val="FBEEAD"/>
    <a:srgbClr val="FCD8A3"/>
    <a:srgbClr val="FFFCCC"/>
    <a:srgbClr val="EFE7C2"/>
    <a:srgbClr val="EFE2B4"/>
    <a:srgbClr val="FF84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4693"/>
  </p:normalViewPr>
  <p:slideViewPr>
    <p:cSldViewPr snapToGrid="0">
      <p:cViewPr>
        <p:scale>
          <a:sx n="100" d="100"/>
          <a:sy n="100" d="100"/>
        </p:scale>
        <p:origin x="4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436E6-C34E-5140-7814-50F830560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60DC45-FB6E-C846-29E1-82C472A10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AB5683-08A2-0DBE-F353-B3E05B3B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CC27EA-D109-4330-2EE2-72A38BFD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92E6B8-D3AB-C3A7-544E-A81638B2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685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41F50-A3B1-E048-4216-47752B18B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4B44C-E92B-9CCF-49CD-DFF87F893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CE5117-62C1-8F54-D60A-8C8A15EC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E3CB3-A3D1-B198-CDD5-FB2B6215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776A99-219F-2FCA-59DC-A6309D4E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313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F8D929-01A4-73F3-22CC-F95FC1418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900838-C0D3-DBDA-B629-920C3A106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DB2E25-3653-4B1C-9A4A-3DDEA2E8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E18644-C997-408C-C7F8-3FD34E441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827600-5776-C36B-F131-5FE1B317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7439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3BE7E-6A0F-8E6F-2B22-471F7979A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30E3C2-2524-F939-5E76-60821C81DB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557626-0384-FEC7-F320-67AF284E2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E550C1-089A-45BE-BC13-D5D865083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DE578A-1116-94A2-5C3E-B97B8E4B6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78BCF7-3700-28E6-922C-5C71D520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814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577C2-3D2E-E2A5-8326-2DC8AFF5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24DC8C-F1BF-9F48-99D6-2AF5C4B90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B47650-6CBB-F238-52DD-CE6D0AE4B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855395-A6CA-9BC1-6575-DC7705CB1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110D14-6A7D-4BBA-7AAA-7F11BE7E9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B20F2D-1A88-2897-CF32-E99485FE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1435C5-4E49-4ECB-9435-E0C09C63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5A5B06-5C0C-65FF-BA52-F61AD9A57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3618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FC8ED-F90E-769B-A0BD-5BB95D9D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106F7C-2307-20A6-B50F-8387226B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14690A-4A39-83CF-F514-C17945E4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5084F4-F330-968F-617D-8851CFCB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689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ECE605-C245-13DB-6429-A7B09545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6D18872-57D0-F09A-9642-D6C1C07A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8CF659-CF3E-BA70-F472-F517EDE8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673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37DF3-F002-0152-A69E-B8E95F720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ECAE3B-1935-57C7-DA84-58B223B99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C570EC-8CB9-FD69-EEAA-DB7D8C42E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B7CA9F-B8B2-B797-5688-C3D1E5D16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4D7A0F-2236-6024-74EA-C8EFAAFC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750419-4BB4-78D8-456F-335AAD5F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68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20D46-1522-9DA5-C135-54906700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DCD112-CD34-DDCE-83C9-2FD3EC477B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5A4754-703E-9270-499B-1A8701FD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DE14AF-6F2D-272A-0291-5413923C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3AD915-7E3D-A178-6F89-F45C6587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3E6BE1-DB0E-8A55-6F98-CA8A340C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8894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6E77F-F39E-D113-EFF5-7B8C3E3E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FA6C95-47F7-CE6B-1A2D-F0B47A8634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0B0DD2-EAE6-87FB-755D-4CF659787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1D7BE-7396-B3F8-0085-379E9B0F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7B4534-D6B1-2C0A-769D-8C8D289B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56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A54ED8-E4E0-B56F-53C1-1B55C9BAB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CC5890-7017-40C2-6F86-5D69369D2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A49C2-53AF-F7E7-F080-40083E99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88848-1BEF-8325-7488-F5DEC7782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A35BAC-5CCE-7B5E-3EF5-073C05D7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734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0DB164-36C6-0175-77A4-B41C781F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9B3025-058C-296A-D947-83A5BB886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541104-7994-D19A-24A1-7AE349086D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4DC643-2E7D-7F48-9C55-8DBBA4DA5C86}" type="datetimeFigureOut">
              <a:rPr kumimoji="1" lang="zh-CN" altLang="en-US" smtClean="0"/>
              <a:t>2025/1/25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420126-2206-F2CC-6814-D4235E0FA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072C0B-76A2-967E-F045-E55FFDFA7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0DFE0-A5A0-FC48-9831-2BF66E3DDA9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45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844E188-9382-7179-9235-735A75E5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866" y="931698"/>
            <a:ext cx="2105526" cy="12948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D9856A-63FE-9852-21C3-FA5CEB244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13" y="2610332"/>
            <a:ext cx="2401957" cy="16777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16DEB35-CA87-4FE5-A110-638BC7D71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886" y="3862666"/>
            <a:ext cx="1922272" cy="190786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EBD592-8D69-1BB8-2821-A8F448188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302" y="2361544"/>
            <a:ext cx="2425700" cy="18161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17FB368-ABB3-D8F8-EAC1-8AAE864C49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515" y="3134647"/>
            <a:ext cx="857724" cy="728019"/>
          </a:xfrm>
          <a:prstGeom prst="rect">
            <a:avLst/>
          </a:prstGeom>
        </p:spPr>
      </p:pic>
      <p:sp>
        <p:nvSpPr>
          <p:cNvPr id="10" name="右箭头 9">
            <a:extLst>
              <a:ext uri="{FF2B5EF4-FFF2-40B4-BE49-F238E27FC236}">
                <a16:creationId xmlns:a16="http://schemas.microsoft.com/office/drawing/2014/main" id="{9FE7CD3E-29AF-CA24-6B84-0C80B4A5CA7B}"/>
              </a:ext>
            </a:extLst>
          </p:cNvPr>
          <p:cNvSpPr/>
          <p:nvPr/>
        </p:nvSpPr>
        <p:spPr>
          <a:xfrm>
            <a:off x="2803551" y="3385755"/>
            <a:ext cx="1178964" cy="36401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F90D975E-AEB7-5520-0379-ECE773B563B8}"/>
              </a:ext>
            </a:extLst>
          </p:cNvPr>
          <p:cNvSpPr/>
          <p:nvPr/>
        </p:nvSpPr>
        <p:spPr>
          <a:xfrm rot="19015946">
            <a:off x="4153172" y="2279598"/>
            <a:ext cx="1903286" cy="36401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820323BC-5A83-876C-37E9-F20BCAF9627A}"/>
              </a:ext>
            </a:extLst>
          </p:cNvPr>
          <p:cNvSpPr/>
          <p:nvPr/>
        </p:nvSpPr>
        <p:spPr>
          <a:xfrm rot="2096959">
            <a:off x="4482522" y="4298921"/>
            <a:ext cx="1799518" cy="36401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C06035C7-7B7C-B5FD-46B4-D5B176BCA86F}"/>
              </a:ext>
            </a:extLst>
          </p:cNvPr>
          <p:cNvSpPr/>
          <p:nvPr/>
        </p:nvSpPr>
        <p:spPr>
          <a:xfrm rot="2202373">
            <a:off x="7755492" y="2138563"/>
            <a:ext cx="1880623" cy="36401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56B796AE-6E7D-95D3-B82C-BA258F33990C}"/>
              </a:ext>
            </a:extLst>
          </p:cNvPr>
          <p:cNvSpPr/>
          <p:nvPr/>
        </p:nvSpPr>
        <p:spPr>
          <a:xfrm rot="19551637">
            <a:off x="7310561" y="4429767"/>
            <a:ext cx="2017930" cy="36401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EA4CEF-48B4-4031-0E4B-AD26388A4DD0}"/>
              </a:ext>
            </a:extLst>
          </p:cNvPr>
          <p:cNvSpPr txBox="1"/>
          <p:nvPr/>
        </p:nvSpPr>
        <p:spPr>
          <a:xfrm>
            <a:off x="2673127" y="3179822"/>
            <a:ext cx="1997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/>
              <a:t>10% energy flow</a:t>
            </a:r>
            <a:endParaRPr kumimoji="1" lang="zh-CN" altLang="en-US" sz="13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5D2C954-9901-AA8B-95FB-91418FDAC627}"/>
              </a:ext>
            </a:extLst>
          </p:cNvPr>
          <p:cNvSpPr txBox="1"/>
          <p:nvPr/>
        </p:nvSpPr>
        <p:spPr>
          <a:xfrm rot="18909740">
            <a:off x="4028743" y="1931270"/>
            <a:ext cx="21521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/>
              <a:t>10% energy flow</a:t>
            </a:r>
            <a:endParaRPr kumimoji="1" lang="zh-CN" altLang="en-US" sz="15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15D07DD-C422-E53E-DDF7-729FC7CD9435}"/>
              </a:ext>
            </a:extLst>
          </p:cNvPr>
          <p:cNvSpPr txBox="1"/>
          <p:nvPr/>
        </p:nvSpPr>
        <p:spPr>
          <a:xfrm rot="2228770">
            <a:off x="7991532" y="2088353"/>
            <a:ext cx="21521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/>
              <a:t>10% energy flow</a:t>
            </a:r>
            <a:endParaRPr kumimoji="1" lang="zh-CN" altLang="en-US" sz="15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AEECC67-001B-6CB9-F991-23DABB7ACCCA}"/>
              </a:ext>
            </a:extLst>
          </p:cNvPr>
          <p:cNvSpPr txBox="1"/>
          <p:nvPr/>
        </p:nvSpPr>
        <p:spPr>
          <a:xfrm rot="2127119">
            <a:off x="4671474" y="4273519"/>
            <a:ext cx="21521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/>
              <a:t>10% energy flow</a:t>
            </a:r>
            <a:endParaRPr kumimoji="1" lang="zh-CN" altLang="en-US" sz="15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FCEF31-C53A-EE87-FE32-9A53718AFAC6}"/>
              </a:ext>
            </a:extLst>
          </p:cNvPr>
          <p:cNvSpPr txBox="1"/>
          <p:nvPr/>
        </p:nvSpPr>
        <p:spPr>
          <a:xfrm rot="19542258">
            <a:off x="7294229" y="4110391"/>
            <a:ext cx="21521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00" dirty="0"/>
              <a:t>10% energy flow</a:t>
            </a:r>
            <a:endParaRPr kumimoji="1" lang="zh-CN" altLang="en-US" sz="15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BD19AE-55B4-0990-F4E7-ECF18A5FAAC9}"/>
              </a:ext>
            </a:extLst>
          </p:cNvPr>
          <p:cNvSpPr txBox="1"/>
          <p:nvPr/>
        </p:nvSpPr>
        <p:spPr>
          <a:xfrm>
            <a:off x="1171052" y="4271973"/>
            <a:ext cx="130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crop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4449081-03D8-6C1F-81BB-E8BDA7307D7C}"/>
              </a:ext>
            </a:extLst>
          </p:cNvPr>
          <p:cNvSpPr txBox="1"/>
          <p:nvPr/>
        </p:nvSpPr>
        <p:spPr>
          <a:xfrm>
            <a:off x="4043764" y="3741319"/>
            <a:ext cx="130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pest</a:t>
            </a:r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620C5E-F9A6-48DD-4031-2B90900E0FC4}"/>
              </a:ext>
            </a:extLst>
          </p:cNvPr>
          <p:cNvSpPr txBox="1"/>
          <p:nvPr/>
        </p:nvSpPr>
        <p:spPr>
          <a:xfrm>
            <a:off x="6465866" y="1880603"/>
            <a:ext cx="130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lizard</a:t>
            </a:r>
            <a:endParaRPr kumimoji="1"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496465-4C81-719B-6EA8-D864C62097CD}"/>
              </a:ext>
            </a:extLst>
          </p:cNvPr>
          <p:cNvSpPr txBox="1"/>
          <p:nvPr/>
        </p:nvSpPr>
        <p:spPr>
          <a:xfrm>
            <a:off x="9304898" y="3918712"/>
            <a:ext cx="130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eagle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6779EA2-63E9-F782-CC82-772361D772D9}"/>
              </a:ext>
            </a:extLst>
          </p:cNvPr>
          <p:cNvSpPr txBox="1"/>
          <p:nvPr/>
        </p:nvSpPr>
        <p:spPr>
          <a:xfrm>
            <a:off x="6496131" y="5534700"/>
            <a:ext cx="1309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bird</a:t>
            </a:r>
          </a:p>
        </p:txBody>
      </p:sp>
      <p:sp>
        <p:nvSpPr>
          <p:cNvPr id="29" name="右箭头 28">
            <a:extLst>
              <a:ext uri="{FF2B5EF4-FFF2-40B4-BE49-F238E27FC236}">
                <a16:creationId xmlns:a16="http://schemas.microsoft.com/office/drawing/2014/main" id="{165E0D2F-BAD6-6A30-1B71-554EFC77E8EE}"/>
              </a:ext>
            </a:extLst>
          </p:cNvPr>
          <p:cNvSpPr/>
          <p:nvPr/>
        </p:nvSpPr>
        <p:spPr>
          <a:xfrm rot="18787527">
            <a:off x="1776937" y="1708964"/>
            <a:ext cx="1308810" cy="783025"/>
          </a:xfrm>
          <a:prstGeom prst="rightArrow">
            <a:avLst/>
          </a:prstGeom>
          <a:solidFill>
            <a:srgbClr val="FF843E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084BB71E-4A7E-B33F-4C55-D690DAEA488B}"/>
              </a:ext>
            </a:extLst>
          </p:cNvPr>
          <p:cNvSpPr/>
          <p:nvPr/>
        </p:nvSpPr>
        <p:spPr>
          <a:xfrm rot="18787527">
            <a:off x="6861427" y="102720"/>
            <a:ext cx="1308810" cy="783025"/>
          </a:xfrm>
          <a:prstGeom prst="rightArrow">
            <a:avLst/>
          </a:prstGeom>
          <a:solidFill>
            <a:srgbClr val="FF843E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右箭头 31">
            <a:extLst>
              <a:ext uri="{FF2B5EF4-FFF2-40B4-BE49-F238E27FC236}">
                <a16:creationId xmlns:a16="http://schemas.microsoft.com/office/drawing/2014/main" id="{FC863798-6E4B-0B51-BC8F-149B381EE9AE}"/>
              </a:ext>
            </a:extLst>
          </p:cNvPr>
          <p:cNvSpPr/>
          <p:nvPr/>
        </p:nvSpPr>
        <p:spPr>
          <a:xfrm rot="18787527">
            <a:off x="9933795" y="1473559"/>
            <a:ext cx="1308810" cy="783025"/>
          </a:xfrm>
          <a:prstGeom prst="rightArrow">
            <a:avLst/>
          </a:prstGeom>
          <a:solidFill>
            <a:srgbClr val="FF843E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24A435EC-E678-798F-031F-A0237AFD570C}"/>
              </a:ext>
            </a:extLst>
          </p:cNvPr>
          <p:cNvSpPr/>
          <p:nvPr/>
        </p:nvSpPr>
        <p:spPr>
          <a:xfrm rot="2190349">
            <a:off x="7182902" y="5893071"/>
            <a:ext cx="1483637" cy="783025"/>
          </a:xfrm>
          <a:prstGeom prst="rightArrow">
            <a:avLst/>
          </a:prstGeom>
          <a:solidFill>
            <a:srgbClr val="FF843E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F2CC748-9A8C-F73F-FBFA-6042C4B5B0B6}"/>
              </a:ext>
            </a:extLst>
          </p:cNvPr>
          <p:cNvSpPr txBox="1"/>
          <p:nvPr/>
        </p:nvSpPr>
        <p:spPr>
          <a:xfrm rot="18793957">
            <a:off x="1123500" y="1742029"/>
            <a:ext cx="211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90% energy loss</a:t>
            </a:r>
            <a:endParaRPr kumimoji="1" lang="zh-CN" altLang="en-US" sz="14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15671C9-38BF-EC7F-E63B-3D0FE47F07E0}"/>
              </a:ext>
            </a:extLst>
          </p:cNvPr>
          <p:cNvSpPr txBox="1"/>
          <p:nvPr/>
        </p:nvSpPr>
        <p:spPr>
          <a:xfrm rot="18793957">
            <a:off x="6210518" y="90962"/>
            <a:ext cx="211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90% energy loss</a:t>
            </a:r>
            <a:endParaRPr kumimoji="1" lang="zh-CN" altLang="en-US" sz="14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E55AA-0E7B-CDC3-49D7-9C6120DBBAE1}"/>
              </a:ext>
            </a:extLst>
          </p:cNvPr>
          <p:cNvSpPr txBox="1"/>
          <p:nvPr/>
        </p:nvSpPr>
        <p:spPr>
          <a:xfrm rot="18793957">
            <a:off x="9273180" y="1499366"/>
            <a:ext cx="211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90% energy loss</a:t>
            </a:r>
            <a:endParaRPr kumimoji="1" lang="zh-CN" altLang="en-US" sz="1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B4E4F14-2357-7882-9A4F-C3F1D5449327}"/>
              </a:ext>
            </a:extLst>
          </p:cNvPr>
          <p:cNvSpPr txBox="1"/>
          <p:nvPr/>
        </p:nvSpPr>
        <p:spPr>
          <a:xfrm rot="2188114">
            <a:off x="7097731" y="5926186"/>
            <a:ext cx="2111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90% energy loss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90324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>
            <a:extLst>
              <a:ext uri="{FF2B5EF4-FFF2-40B4-BE49-F238E27FC236}">
                <a16:creationId xmlns:a16="http://schemas.microsoft.com/office/drawing/2014/main" id="{D9997481-2D83-7685-CBDD-B775E9959F0D}"/>
              </a:ext>
            </a:extLst>
          </p:cNvPr>
          <p:cNvSpPr/>
          <p:nvPr/>
        </p:nvSpPr>
        <p:spPr>
          <a:xfrm>
            <a:off x="1309070" y="794357"/>
            <a:ext cx="4396777" cy="522690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4" name="同侧圆角矩形 43">
            <a:extLst>
              <a:ext uri="{FF2B5EF4-FFF2-40B4-BE49-F238E27FC236}">
                <a16:creationId xmlns:a16="http://schemas.microsoft.com/office/drawing/2014/main" id="{A64D1CA2-081E-9584-DD58-A0AE414F5A5B}"/>
              </a:ext>
            </a:extLst>
          </p:cNvPr>
          <p:cNvSpPr/>
          <p:nvPr/>
        </p:nvSpPr>
        <p:spPr>
          <a:xfrm rot="10800000">
            <a:off x="1309070" y="4487340"/>
            <a:ext cx="4396776" cy="1533926"/>
          </a:xfrm>
          <a:prstGeom prst="round2SameRect">
            <a:avLst/>
          </a:prstGeom>
          <a:solidFill>
            <a:srgbClr val="FFFCCC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93F5878-2ED4-C344-F6E8-37D488FE3DC7}"/>
              </a:ext>
            </a:extLst>
          </p:cNvPr>
          <p:cNvSpPr/>
          <p:nvPr/>
        </p:nvSpPr>
        <p:spPr>
          <a:xfrm>
            <a:off x="6983855" y="895793"/>
            <a:ext cx="3037703" cy="13595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B9E26A1-1ADB-8401-756E-16645DF04429}"/>
              </a:ext>
            </a:extLst>
          </p:cNvPr>
          <p:cNvSpPr/>
          <p:nvPr/>
        </p:nvSpPr>
        <p:spPr>
          <a:xfrm>
            <a:off x="6116897" y="2434283"/>
            <a:ext cx="4572000" cy="18520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11ADB6AD-AA27-0726-1BC3-26212A92C8BB}"/>
              </a:ext>
            </a:extLst>
          </p:cNvPr>
          <p:cNvSpPr/>
          <p:nvPr/>
        </p:nvSpPr>
        <p:spPr>
          <a:xfrm>
            <a:off x="7392661" y="1265126"/>
            <a:ext cx="2220242" cy="3521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Removal</a:t>
            </a:r>
            <a:r>
              <a:rPr kumimoji="1" lang="en-US" altLang="zh-CN" sz="1300" dirty="0">
                <a:ln>
                  <a:solidFill>
                    <a:sysClr val="windowText" lastClr="000000"/>
                  </a:solidFill>
                </a:ln>
              </a:rPr>
              <a:t> </a:t>
            </a:r>
            <a:r>
              <a:rPr kumimoji="1" lang="en-US" altLang="zh-CN" sz="1300" dirty="0">
                <a:solidFill>
                  <a:sysClr val="windowText" lastClr="000000"/>
                </a:solidFill>
              </a:rPr>
              <a:t>of</a:t>
            </a:r>
            <a:r>
              <a:rPr kumimoji="1" lang="en-US" altLang="zh-CN" sz="1300" dirty="0">
                <a:ln>
                  <a:solidFill>
                    <a:sysClr val="windowText" lastClr="000000"/>
                  </a:solidFill>
                </a:ln>
              </a:rPr>
              <a:t> </a:t>
            </a:r>
            <a:r>
              <a:rPr kumimoji="1" lang="en-US" altLang="zh-CN" sz="1300" dirty="0">
                <a:solidFill>
                  <a:sysClr val="windowText" lastClr="000000"/>
                </a:solidFill>
              </a:rPr>
              <a:t>Herbicide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707F24-E76B-4C6F-7C54-4BCEC08FCADA}"/>
              </a:ext>
            </a:extLst>
          </p:cNvPr>
          <p:cNvSpPr txBox="1"/>
          <p:nvPr/>
        </p:nvSpPr>
        <p:spPr>
          <a:xfrm>
            <a:off x="7574481" y="907420"/>
            <a:ext cx="2817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Human Decisions</a:t>
            </a:r>
            <a:endParaRPr kumimoji="1" lang="zh-CN" altLang="en-US" b="1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83E83901-E3BE-C71B-A481-299A928CA85C}"/>
              </a:ext>
            </a:extLst>
          </p:cNvPr>
          <p:cNvSpPr/>
          <p:nvPr/>
        </p:nvSpPr>
        <p:spPr>
          <a:xfrm>
            <a:off x="7401368" y="1751152"/>
            <a:ext cx="2220242" cy="35218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Introducing</a:t>
            </a:r>
            <a:r>
              <a:rPr kumimoji="1" lang="en-US" altLang="zh-CN" sz="1300" dirty="0">
                <a:ln>
                  <a:solidFill>
                    <a:sysClr val="windowText" lastClr="000000"/>
                  </a:solidFill>
                </a:ln>
              </a:rPr>
              <a:t> </a:t>
            </a:r>
            <a:r>
              <a:rPr kumimoji="1" lang="en-US" altLang="zh-CN" sz="1300" dirty="0">
                <a:solidFill>
                  <a:sysClr val="windowText" lastClr="000000"/>
                </a:solidFill>
              </a:rPr>
              <a:t>Bats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ACDA67-96C3-9B45-DE9F-816346A4A5B1}"/>
              </a:ext>
            </a:extLst>
          </p:cNvPr>
          <p:cNvSpPr txBox="1"/>
          <p:nvPr/>
        </p:nvSpPr>
        <p:spPr>
          <a:xfrm>
            <a:off x="2539083" y="929031"/>
            <a:ext cx="286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Natural Processes</a:t>
            </a:r>
            <a:endParaRPr kumimoji="1"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72B8201-9C05-8D34-DDE0-2301B6734C43}"/>
              </a:ext>
            </a:extLst>
          </p:cNvPr>
          <p:cNvSpPr txBox="1"/>
          <p:nvPr/>
        </p:nvSpPr>
        <p:spPr>
          <a:xfrm>
            <a:off x="6772324" y="2434283"/>
            <a:ext cx="3619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Multi-Objective Optimization</a:t>
            </a:r>
            <a:endParaRPr kumimoji="1" lang="zh-CN" altLang="en-US" b="1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60BA4774-692B-CFF8-8485-57EBB3EF83D4}"/>
              </a:ext>
            </a:extLst>
          </p:cNvPr>
          <p:cNvSpPr/>
          <p:nvPr/>
        </p:nvSpPr>
        <p:spPr>
          <a:xfrm>
            <a:off x="6197646" y="2880437"/>
            <a:ext cx="1569308" cy="4695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Economic Benefits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D36B44BC-03A5-BF8C-F92E-2CFF2AF1549C}"/>
              </a:ext>
            </a:extLst>
          </p:cNvPr>
          <p:cNvSpPr/>
          <p:nvPr/>
        </p:nvSpPr>
        <p:spPr>
          <a:xfrm>
            <a:off x="6197646" y="3557375"/>
            <a:ext cx="1569308" cy="5436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Ecological Sustainability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902664E5-4741-2E8D-B4EB-AB4F0627515F}"/>
              </a:ext>
            </a:extLst>
          </p:cNvPr>
          <p:cNvCxnSpPr/>
          <p:nvPr/>
        </p:nvCxnSpPr>
        <p:spPr>
          <a:xfrm flipV="1">
            <a:off x="7766954" y="2931990"/>
            <a:ext cx="415941" cy="127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B5F8D3D-1B19-A3CF-0E05-587CEC7C933E}"/>
              </a:ext>
            </a:extLst>
          </p:cNvPr>
          <p:cNvCxnSpPr/>
          <p:nvPr/>
        </p:nvCxnSpPr>
        <p:spPr>
          <a:xfrm>
            <a:off x="7766918" y="3201999"/>
            <a:ext cx="416012" cy="100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093B726F-FB9C-56AE-5A2D-D56232958622}"/>
              </a:ext>
            </a:extLst>
          </p:cNvPr>
          <p:cNvCxnSpPr/>
          <p:nvPr/>
        </p:nvCxnSpPr>
        <p:spPr>
          <a:xfrm flipV="1">
            <a:off x="7766179" y="3659930"/>
            <a:ext cx="415941" cy="127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8D0DE01-CC62-2B1B-FDB5-CD059127896A}"/>
              </a:ext>
            </a:extLst>
          </p:cNvPr>
          <p:cNvCxnSpPr/>
          <p:nvPr/>
        </p:nvCxnSpPr>
        <p:spPr>
          <a:xfrm>
            <a:off x="7766108" y="3915269"/>
            <a:ext cx="416012" cy="100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57FD0BD2-FA5D-C9C8-B97F-5FC7E5336E6A}"/>
              </a:ext>
            </a:extLst>
          </p:cNvPr>
          <p:cNvSpPr/>
          <p:nvPr/>
        </p:nvSpPr>
        <p:spPr>
          <a:xfrm>
            <a:off x="8182895" y="2830637"/>
            <a:ext cx="2415222" cy="2416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Revenue from Crop Harvests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321CE15-1128-A0E9-E46E-773DFC9EC369}"/>
              </a:ext>
            </a:extLst>
          </p:cNvPr>
          <p:cNvSpPr/>
          <p:nvPr/>
        </p:nvSpPr>
        <p:spPr>
          <a:xfrm>
            <a:off x="8182895" y="3190390"/>
            <a:ext cx="2415222" cy="2416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Pesticide Costs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D2E9A33-DED9-FCC7-3D19-EE807BFB1A81}"/>
              </a:ext>
            </a:extLst>
          </p:cNvPr>
          <p:cNvSpPr/>
          <p:nvPr/>
        </p:nvSpPr>
        <p:spPr>
          <a:xfrm>
            <a:off x="8182860" y="3520187"/>
            <a:ext cx="2415257" cy="2517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Soil Fertility (Soil Fertility Index)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AB26F947-83BA-37E8-A492-00D7326247AF}"/>
              </a:ext>
            </a:extLst>
          </p:cNvPr>
          <p:cNvSpPr/>
          <p:nvPr/>
        </p:nvSpPr>
        <p:spPr>
          <a:xfrm>
            <a:off x="8182120" y="3889607"/>
            <a:ext cx="2415997" cy="25177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>
                <a:solidFill>
                  <a:sysClr val="windowText" lastClr="000000"/>
                </a:solidFill>
              </a:rPr>
              <a:t>Biodiversity (Shannon Index)</a:t>
            </a:r>
            <a:endParaRPr kumimoji="1" lang="zh-CN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66A1993-221D-1D92-0E33-CE6740BBC452}"/>
              </a:ext>
            </a:extLst>
          </p:cNvPr>
          <p:cNvSpPr txBox="1"/>
          <p:nvPr/>
        </p:nvSpPr>
        <p:spPr>
          <a:xfrm>
            <a:off x="2189666" y="4542149"/>
            <a:ext cx="27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Reemergence of Species</a:t>
            </a:r>
            <a:endParaRPr kumimoji="1" lang="zh-CN" altLang="en-US" dirty="0"/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FBA3095E-D122-38E5-F574-D3FC45A64267}"/>
              </a:ext>
            </a:extLst>
          </p:cNvPr>
          <p:cNvCxnSpPr>
            <a:cxnSpLocks/>
          </p:cNvCxnSpPr>
          <p:nvPr/>
        </p:nvCxnSpPr>
        <p:spPr>
          <a:xfrm>
            <a:off x="1309069" y="1433037"/>
            <a:ext cx="4396777" cy="12700"/>
          </a:xfrm>
          <a:prstGeom prst="curvedConnector3">
            <a:avLst/>
          </a:prstGeom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7F54B6BF-1E24-6D03-01A1-CCCA713F1875}"/>
              </a:ext>
            </a:extLst>
          </p:cNvPr>
          <p:cNvSpPr/>
          <p:nvPr/>
        </p:nvSpPr>
        <p:spPr>
          <a:xfrm>
            <a:off x="1447386" y="1750581"/>
            <a:ext cx="416011" cy="191478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0010458-4219-570A-5E62-DAB46EEB27F3}"/>
              </a:ext>
            </a:extLst>
          </p:cNvPr>
          <p:cNvSpPr txBox="1"/>
          <p:nvPr/>
        </p:nvSpPr>
        <p:spPr>
          <a:xfrm rot="10800000">
            <a:off x="1424175" y="1720049"/>
            <a:ext cx="461665" cy="17789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/>
              <a:t>Current System</a:t>
            </a:r>
            <a:endParaRPr kumimoji="1" lang="zh-CN" altLang="en-US" dirty="0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BA5533B1-A810-14AB-C6E9-67193279BCBD}"/>
              </a:ext>
            </a:extLst>
          </p:cNvPr>
          <p:cNvSpPr/>
          <p:nvPr/>
        </p:nvSpPr>
        <p:spPr>
          <a:xfrm>
            <a:off x="2159480" y="1583424"/>
            <a:ext cx="1073714" cy="3386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Weeps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E6A933CE-1B7B-B746-D124-2442920B13DC}"/>
              </a:ext>
            </a:extLst>
          </p:cNvPr>
          <p:cNvSpPr/>
          <p:nvPr/>
        </p:nvSpPr>
        <p:spPr>
          <a:xfrm>
            <a:off x="2158210" y="2015648"/>
            <a:ext cx="1073714" cy="3386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Crops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cxnSp>
        <p:nvCxnSpPr>
          <p:cNvPr id="56" name="肘形连接符 55">
            <a:extLst>
              <a:ext uri="{FF2B5EF4-FFF2-40B4-BE49-F238E27FC236}">
                <a16:creationId xmlns:a16="http://schemas.microsoft.com/office/drawing/2014/main" id="{BCB74769-468E-E9B4-0FD4-9ECA1BF9CFF8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3233193" y="1767033"/>
            <a:ext cx="361874" cy="197487"/>
          </a:xfrm>
          <a:prstGeom prst="bentConnector3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831F31D5-F1FB-A9D4-D5FC-9DF45A3D3CA1}"/>
              </a:ext>
            </a:extLst>
          </p:cNvPr>
          <p:cNvSpPr/>
          <p:nvPr/>
        </p:nvSpPr>
        <p:spPr>
          <a:xfrm>
            <a:off x="6116896" y="4743901"/>
            <a:ext cx="2204863" cy="48414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9F4211D9-8863-3DFB-4160-2A0293077F38}"/>
              </a:ext>
            </a:extLst>
          </p:cNvPr>
          <p:cNvSpPr/>
          <p:nvPr/>
        </p:nvSpPr>
        <p:spPr>
          <a:xfrm>
            <a:off x="6116896" y="5583865"/>
            <a:ext cx="4659566" cy="3868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59" name="下箭头 58">
            <a:extLst>
              <a:ext uri="{FF2B5EF4-FFF2-40B4-BE49-F238E27FC236}">
                <a16:creationId xmlns:a16="http://schemas.microsoft.com/office/drawing/2014/main" id="{1575D61C-9164-CC82-A2D3-163AE0AF72D7}"/>
              </a:ext>
            </a:extLst>
          </p:cNvPr>
          <p:cNvSpPr/>
          <p:nvPr/>
        </p:nvSpPr>
        <p:spPr>
          <a:xfrm>
            <a:off x="7086599" y="4286338"/>
            <a:ext cx="306061" cy="457563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下箭头 59">
            <a:extLst>
              <a:ext uri="{FF2B5EF4-FFF2-40B4-BE49-F238E27FC236}">
                <a16:creationId xmlns:a16="http://schemas.microsoft.com/office/drawing/2014/main" id="{BA25965E-B034-2CBD-E2B0-C3BBE80612F9}"/>
              </a:ext>
            </a:extLst>
          </p:cNvPr>
          <p:cNvSpPr/>
          <p:nvPr/>
        </p:nvSpPr>
        <p:spPr>
          <a:xfrm>
            <a:off x="9537475" y="4292385"/>
            <a:ext cx="306061" cy="457563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668CCF8-EEB1-EF6E-24FF-27FAEC360009}"/>
              </a:ext>
            </a:extLst>
          </p:cNvPr>
          <p:cNvSpPr txBox="1"/>
          <p:nvPr/>
        </p:nvSpPr>
        <p:spPr>
          <a:xfrm>
            <a:off x="2215746" y="5625582"/>
            <a:ext cx="273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Energy Flow Model</a:t>
            </a:r>
            <a:endParaRPr kumimoji="1" lang="zh-CN" altLang="en-US" b="1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7BA1F3C-C111-33D2-CEA5-E492547B5B5F}"/>
              </a:ext>
            </a:extLst>
          </p:cNvPr>
          <p:cNvSpPr txBox="1"/>
          <p:nvPr/>
        </p:nvSpPr>
        <p:spPr>
          <a:xfrm>
            <a:off x="7264137" y="4359527"/>
            <a:ext cx="897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" b="1" dirty="0"/>
              <a:t>SLSQP</a:t>
            </a:r>
            <a:endParaRPr kumimoji="1" lang="zh-CN" altLang="en-US" sz="1500" b="1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B91E144-9BDE-A488-82F5-499DC5187F25}"/>
              </a:ext>
            </a:extLst>
          </p:cNvPr>
          <p:cNvSpPr txBox="1"/>
          <p:nvPr/>
        </p:nvSpPr>
        <p:spPr>
          <a:xfrm>
            <a:off x="9700894" y="4359527"/>
            <a:ext cx="10755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" b="1" dirty="0"/>
              <a:t>NSGA-II</a:t>
            </a:r>
            <a:endParaRPr kumimoji="1" lang="zh-CN" altLang="en-US" sz="1500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ED3F4E7-9C4F-6E18-5699-6765F1DB7B4A}"/>
              </a:ext>
            </a:extLst>
          </p:cNvPr>
          <p:cNvSpPr txBox="1"/>
          <p:nvPr/>
        </p:nvSpPr>
        <p:spPr>
          <a:xfrm>
            <a:off x="6221337" y="4768539"/>
            <a:ext cx="20855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300" b="1" dirty="0"/>
              <a:t>Weighted Objective Optimization</a:t>
            </a:r>
            <a:endParaRPr kumimoji="1" lang="zh-CN" altLang="en-US" sz="1300" b="1" dirty="0"/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7649E27A-040F-3E41-A178-5BB12830E88B}"/>
              </a:ext>
            </a:extLst>
          </p:cNvPr>
          <p:cNvSpPr/>
          <p:nvPr/>
        </p:nvSpPr>
        <p:spPr>
          <a:xfrm>
            <a:off x="8621485" y="4745865"/>
            <a:ext cx="2067411" cy="4821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07A5A87-5606-B170-E4E2-10C695D03F84}"/>
              </a:ext>
            </a:extLst>
          </p:cNvPr>
          <p:cNvSpPr txBox="1"/>
          <p:nvPr/>
        </p:nvSpPr>
        <p:spPr>
          <a:xfrm>
            <a:off x="8904683" y="4788692"/>
            <a:ext cx="157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/>
              <a:t>Pareto Front</a:t>
            </a:r>
            <a:endParaRPr kumimoji="1" lang="zh-CN" altLang="en-US" b="1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668EA14-A404-70F0-D4A7-9C125C0A8D94}"/>
              </a:ext>
            </a:extLst>
          </p:cNvPr>
          <p:cNvSpPr txBox="1"/>
          <p:nvPr/>
        </p:nvSpPr>
        <p:spPr>
          <a:xfrm>
            <a:off x="7192005" y="5622609"/>
            <a:ext cx="3358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00" dirty="0"/>
              <a:t>One-page letter to farmers</a:t>
            </a:r>
            <a:endParaRPr kumimoji="1" lang="zh-CN" altLang="en-US" sz="1500" dirty="0"/>
          </a:p>
        </p:txBody>
      </p:sp>
      <p:sp>
        <p:nvSpPr>
          <p:cNvPr id="69" name="下箭头 68">
            <a:extLst>
              <a:ext uri="{FF2B5EF4-FFF2-40B4-BE49-F238E27FC236}">
                <a16:creationId xmlns:a16="http://schemas.microsoft.com/office/drawing/2014/main" id="{1D5B04E6-B227-F252-A85D-2C83A54216D1}"/>
              </a:ext>
            </a:extLst>
          </p:cNvPr>
          <p:cNvSpPr/>
          <p:nvPr/>
        </p:nvSpPr>
        <p:spPr>
          <a:xfrm>
            <a:off x="7086236" y="5233650"/>
            <a:ext cx="306061" cy="368909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下箭头 69">
            <a:extLst>
              <a:ext uri="{FF2B5EF4-FFF2-40B4-BE49-F238E27FC236}">
                <a16:creationId xmlns:a16="http://schemas.microsoft.com/office/drawing/2014/main" id="{43DCC887-C95F-198F-C178-7A4AF0C3D336}"/>
              </a:ext>
            </a:extLst>
          </p:cNvPr>
          <p:cNvSpPr/>
          <p:nvPr/>
        </p:nvSpPr>
        <p:spPr>
          <a:xfrm>
            <a:off x="9566258" y="5234328"/>
            <a:ext cx="306061" cy="368231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7" name="直线连接符 76">
            <a:extLst>
              <a:ext uri="{FF2B5EF4-FFF2-40B4-BE49-F238E27FC236}">
                <a16:creationId xmlns:a16="http://schemas.microsoft.com/office/drawing/2014/main" id="{729E5485-5A9E-F2D0-0B33-B2CD9ED1CFA3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3231924" y="2184970"/>
            <a:ext cx="165142" cy="6172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986E86E5-6989-20C4-26A5-F2CCDD7E6B41}"/>
              </a:ext>
            </a:extLst>
          </p:cNvPr>
          <p:cNvCxnSpPr>
            <a:cxnSpLocks/>
          </p:cNvCxnSpPr>
          <p:nvPr/>
        </p:nvCxnSpPr>
        <p:spPr>
          <a:xfrm flipV="1">
            <a:off x="3413495" y="1973835"/>
            <a:ext cx="0" cy="212281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0643B288-D549-40A9-9B6B-5B842AC65615}"/>
              </a:ext>
            </a:extLst>
          </p:cNvPr>
          <p:cNvSpPr/>
          <p:nvPr/>
        </p:nvSpPr>
        <p:spPr>
          <a:xfrm>
            <a:off x="3595067" y="1633188"/>
            <a:ext cx="1966863" cy="6626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b="1" dirty="0">
                <a:solidFill>
                  <a:schemeClr val="tx1"/>
                </a:solidFill>
              </a:rPr>
              <a:t>Reaction-Diffusion Model</a:t>
            </a:r>
            <a:endParaRPr kumimoji="1" lang="zh-CN" altLang="en-US" sz="1500" b="1" dirty="0">
              <a:solidFill>
                <a:schemeClr val="tx1"/>
              </a:solidFill>
            </a:endParaRPr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580FD078-501C-BC32-E680-702D3C42F776}"/>
              </a:ext>
            </a:extLst>
          </p:cNvPr>
          <p:cNvSpPr/>
          <p:nvPr/>
        </p:nvSpPr>
        <p:spPr>
          <a:xfrm>
            <a:off x="2148362" y="2434107"/>
            <a:ext cx="1073714" cy="3386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Pests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98" name="圆角矩形 97">
            <a:extLst>
              <a:ext uri="{FF2B5EF4-FFF2-40B4-BE49-F238E27FC236}">
                <a16:creationId xmlns:a16="http://schemas.microsoft.com/office/drawing/2014/main" id="{997CFBB0-357A-F388-45E3-4D3FF8F37F3C}"/>
              </a:ext>
            </a:extLst>
          </p:cNvPr>
          <p:cNvSpPr/>
          <p:nvPr/>
        </p:nvSpPr>
        <p:spPr>
          <a:xfrm>
            <a:off x="2160547" y="2843768"/>
            <a:ext cx="1073714" cy="4499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Beneficial Insects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89EE67DB-0AEA-0D7A-8178-61D0770290B7}"/>
              </a:ext>
            </a:extLst>
          </p:cNvPr>
          <p:cNvSpPr/>
          <p:nvPr/>
        </p:nvSpPr>
        <p:spPr>
          <a:xfrm>
            <a:off x="3581904" y="2349047"/>
            <a:ext cx="1971406" cy="6626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b="1" dirty="0">
                <a:solidFill>
                  <a:schemeClr val="tx1"/>
                </a:solidFill>
              </a:rPr>
              <a:t>Tri-trophic Dynamic Model</a:t>
            </a:r>
            <a:endParaRPr kumimoji="1" lang="zh-CN" altLang="en-US" sz="1500" b="1" dirty="0">
              <a:solidFill>
                <a:schemeClr val="tx1"/>
              </a:solidFill>
            </a:endParaRPr>
          </a:p>
        </p:txBody>
      </p:sp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63A81BFD-BDCF-389F-5A2D-B8DD8FDB421D}"/>
              </a:ext>
            </a:extLst>
          </p:cNvPr>
          <p:cNvSpPr/>
          <p:nvPr/>
        </p:nvSpPr>
        <p:spPr>
          <a:xfrm>
            <a:off x="3595067" y="3075549"/>
            <a:ext cx="1966863" cy="66266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b="1" dirty="0">
                <a:solidFill>
                  <a:schemeClr val="tx1"/>
                </a:solidFill>
              </a:rPr>
              <a:t>Tri-trophic and Soil Vitality Model</a:t>
            </a:r>
            <a:endParaRPr kumimoji="1" lang="zh-CN" altLang="en-US" sz="1500" b="1" dirty="0">
              <a:solidFill>
                <a:schemeClr val="tx1"/>
              </a:solidFill>
            </a:endParaRPr>
          </a:p>
        </p:txBody>
      </p:sp>
      <p:sp>
        <p:nvSpPr>
          <p:cNvPr id="104" name="圆角矩形 103">
            <a:extLst>
              <a:ext uri="{FF2B5EF4-FFF2-40B4-BE49-F238E27FC236}">
                <a16:creationId xmlns:a16="http://schemas.microsoft.com/office/drawing/2014/main" id="{6DF627F1-4948-BD47-4923-29A5D799EFC2}"/>
              </a:ext>
            </a:extLst>
          </p:cNvPr>
          <p:cNvSpPr/>
          <p:nvPr/>
        </p:nvSpPr>
        <p:spPr>
          <a:xfrm>
            <a:off x="2157973" y="3395715"/>
            <a:ext cx="1103159" cy="33864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Soil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cxnSp>
        <p:nvCxnSpPr>
          <p:cNvPr id="107" name="肘形连接符 106">
            <a:extLst>
              <a:ext uri="{FF2B5EF4-FFF2-40B4-BE49-F238E27FC236}">
                <a16:creationId xmlns:a16="http://schemas.microsoft.com/office/drawing/2014/main" id="{8E833E92-11D1-9EC3-88A1-A29AC04405CE}"/>
              </a:ext>
            </a:extLst>
          </p:cNvPr>
          <p:cNvCxnSpPr>
            <a:cxnSpLocks/>
          </p:cNvCxnSpPr>
          <p:nvPr/>
        </p:nvCxnSpPr>
        <p:spPr>
          <a:xfrm>
            <a:off x="3218520" y="2339155"/>
            <a:ext cx="384015" cy="291141"/>
          </a:xfrm>
          <a:prstGeom prst="bentConnector3">
            <a:avLst>
              <a:gd name="adj1" fmla="val 47061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BF029FF6-F985-C3FF-10B4-F5D2D0CDC70E}"/>
              </a:ext>
            </a:extLst>
          </p:cNvPr>
          <p:cNvCxnSpPr>
            <a:cxnSpLocks/>
          </p:cNvCxnSpPr>
          <p:nvPr/>
        </p:nvCxnSpPr>
        <p:spPr>
          <a:xfrm>
            <a:off x="3397066" y="2494779"/>
            <a:ext cx="13462" cy="573963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202349D6-7942-AD3E-B169-35037DB5397C}"/>
              </a:ext>
            </a:extLst>
          </p:cNvPr>
          <p:cNvCxnSpPr>
            <a:cxnSpLocks/>
          </p:cNvCxnSpPr>
          <p:nvPr/>
        </p:nvCxnSpPr>
        <p:spPr>
          <a:xfrm>
            <a:off x="3397066" y="320627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直线连接符 130">
            <a:extLst>
              <a:ext uri="{FF2B5EF4-FFF2-40B4-BE49-F238E27FC236}">
                <a16:creationId xmlns:a16="http://schemas.microsoft.com/office/drawing/2014/main" id="{218DB223-2C2E-F4F4-B76F-B7F4A136574F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3234261" y="3068742"/>
            <a:ext cx="176267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直线连接符 139">
            <a:extLst>
              <a:ext uri="{FF2B5EF4-FFF2-40B4-BE49-F238E27FC236}">
                <a16:creationId xmlns:a16="http://schemas.microsoft.com/office/drawing/2014/main" id="{0D3E8EA5-8F30-FD35-024C-2A93F82425B4}"/>
              </a:ext>
            </a:extLst>
          </p:cNvPr>
          <p:cNvCxnSpPr/>
          <p:nvPr/>
        </p:nvCxnSpPr>
        <p:spPr>
          <a:xfrm>
            <a:off x="3228863" y="2630296"/>
            <a:ext cx="264505" cy="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直线连接符 161">
            <a:extLst>
              <a:ext uri="{FF2B5EF4-FFF2-40B4-BE49-F238E27FC236}">
                <a16:creationId xmlns:a16="http://schemas.microsoft.com/office/drawing/2014/main" id="{CC517E99-2BB3-C60A-2BD9-45114AB59206}"/>
              </a:ext>
            </a:extLst>
          </p:cNvPr>
          <p:cNvCxnSpPr>
            <a:cxnSpLocks/>
          </p:cNvCxnSpPr>
          <p:nvPr/>
        </p:nvCxnSpPr>
        <p:spPr>
          <a:xfrm>
            <a:off x="3493368" y="2630296"/>
            <a:ext cx="0" cy="942960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直线连接符 166">
            <a:extLst>
              <a:ext uri="{FF2B5EF4-FFF2-40B4-BE49-F238E27FC236}">
                <a16:creationId xmlns:a16="http://schemas.microsoft.com/office/drawing/2014/main" id="{0BBB5D86-D657-2C6B-8B5D-D51A26E26B7A}"/>
              </a:ext>
            </a:extLst>
          </p:cNvPr>
          <p:cNvCxnSpPr>
            <a:endCxn id="104" idx="3"/>
          </p:cNvCxnSpPr>
          <p:nvPr/>
        </p:nvCxnSpPr>
        <p:spPr>
          <a:xfrm flipH="1">
            <a:off x="3261132" y="3565036"/>
            <a:ext cx="246325" cy="1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直线箭头连接符 168">
            <a:extLst>
              <a:ext uri="{FF2B5EF4-FFF2-40B4-BE49-F238E27FC236}">
                <a16:creationId xmlns:a16="http://schemas.microsoft.com/office/drawing/2014/main" id="{ED8FB55E-305A-7FF8-C6B0-94C480BF16FB}"/>
              </a:ext>
            </a:extLst>
          </p:cNvPr>
          <p:cNvCxnSpPr>
            <a:endCxn id="103" idx="1"/>
          </p:cNvCxnSpPr>
          <p:nvPr/>
        </p:nvCxnSpPr>
        <p:spPr>
          <a:xfrm>
            <a:off x="3507457" y="3406880"/>
            <a:ext cx="87610" cy="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圆角矩形 173">
            <a:extLst>
              <a:ext uri="{FF2B5EF4-FFF2-40B4-BE49-F238E27FC236}">
                <a16:creationId xmlns:a16="http://schemas.microsoft.com/office/drawing/2014/main" id="{A9B07138-06E3-357C-BB13-988FC822FA36}"/>
              </a:ext>
            </a:extLst>
          </p:cNvPr>
          <p:cNvSpPr/>
          <p:nvPr/>
        </p:nvSpPr>
        <p:spPr>
          <a:xfrm>
            <a:off x="1665651" y="3905488"/>
            <a:ext cx="1936881" cy="4699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EAEDF2C8-FF02-E8D8-344C-E76832986581}"/>
              </a:ext>
            </a:extLst>
          </p:cNvPr>
          <p:cNvSpPr txBox="1"/>
          <p:nvPr/>
        </p:nvSpPr>
        <p:spPr>
          <a:xfrm>
            <a:off x="1708105" y="3916681"/>
            <a:ext cx="184180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300" dirty="0"/>
              <a:t>Temperature &amp; Rainfall (Beta Function)</a:t>
            </a:r>
            <a:endParaRPr kumimoji="1" lang="zh-CN" altLang="en-US" sz="1300" dirty="0"/>
          </a:p>
        </p:txBody>
      </p:sp>
      <p:sp>
        <p:nvSpPr>
          <p:cNvPr id="176" name="圆角矩形 175">
            <a:extLst>
              <a:ext uri="{FF2B5EF4-FFF2-40B4-BE49-F238E27FC236}">
                <a16:creationId xmlns:a16="http://schemas.microsoft.com/office/drawing/2014/main" id="{3C3AF1B0-2D62-CD9B-0DE6-47CF49C83DBC}"/>
              </a:ext>
            </a:extLst>
          </p:cNvPr>
          <p:cNvSpPr/>
          <p:nvPr/>
        </p:nvSpPr>
        <p:spPr>
          <a:xfrm>
            <a:off x="3734299" y="3905488"/>
            <a:ext cx="1821811" cy="4699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F9961B9B-683C-ED86-30F2-848359D2E98C}"/>
              </a:ext>
            </a:extLst>
          </p:cNvPr>
          <p:cNvSpPr txBox="1"/>
          <p:nvPr/>
        </p:nvSpPr>
        <p:spPr>
          <a:xfrm>
            <a:off x="3724300" y="3887130"/>
            <a:ext cx="184180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300" dirty="0"/>
              <a:t>Periodical Pesticide Usage</a:t>
            </a:r>
            <a:endParaRPr kumimoji="1" lang="zh-CN" altLang="en-US" sz="1300" dirty="0"/>
          </a:p>
        </p:txBody>
      </p:sp>
      <p:sp>
        <p:nvSpPr>
          <p:cNvPr id="186" name="右大括号 185">
            <a:extLst>
              <a:ext uri="{FF2B5EF4-FFF2-40B4-BE49-F238E27FC236}">
                <a16:creationId xmlns:a16="http://schemas.microsoft.com/office/drawing/2014/main" id="{2542F2E2-89AB-EA89-C005-D668FC2F2280}"/>
              </a:ext>
            </a:extLst>
          </p:cNvPr>
          <p:cNvSpPr/>
          <p:nvPr/>
        </p:nvSpPr>
        <p:spPr>
          <a:xfrm rot="16200000">
            <a:off x="3752543" y="3161719"/>
            <a:ext cx="195960" cy="1311139"/>
          </a:xfrm>
          <a:prstGeom prst="rightBrace">
            <a:avLst>
              <a:gd name="adj1" fmla="val 8333"/>
              <a:gd name="adj2" fmla="val 46646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7" name="下箭头 186">
            <a:extLst>
              <a:ext uri="{FF2B5EF4-FFF2-40B4-BE49-F238E27FC236}">
                <a16:creationId xmlns:a16="http://schemas.microsoft.com/office/drawing/2014/main" id="{60FE8891-0FC1-3FF4-3D75-30CC138B433A}"/>
              </a:ext>
            </a:extLst>
          </p:cNvPr>
          <p:cNvSpPr/>
          <p:nvPr/>
        </p:nvSpPr>
        <p:spPr>
          <a:xfrm rot="16200000">
            <a:off x="6190954" y="977434"/>
            <a:ext cx="306061" cy="1279741"/>
          </a:xfrm>
          <a:prstGeom prst="downArrow">
            <a:avLst>
              <a:gd name="adj1" fmla="val 64228"/>
              <a:gd name="adj2" fmla="val 50000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8" name="圆角矩形 187">
            <a:extLst>
              <a:ext uri="{FF2B5EF4-FFF2-40B4-BE49-F238E27FC236}">
                <a16:creationId xmlns:a16="http://schemas.microsoft.com/office/drawing/2014/main" id="{E653044E-04CF-F490-24DF-50C742E0C5B7}"/>
              </a:ext>
            </a:extLst>
          </p:cNvPr>
          <p:cNvSpPr/>
          <p:nvPr/>
        </p:nvSpPr>
        <p:spPr>
          <a:xfrm>
            <a:off x="1464418" y="5105255"/>
            <a:ext cx="693556" cy="290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Crop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89" name="圆角矩形 188">
            <a:extLst>
              <a:ext uri="{FF2B5EF4-FFF2-40B4-BE49-F238E27FC236}">
                <a16:creationId xmlns:a16="http://schemas.microsoft.com/office/drawing/2014/main" id="{2F06D2FD-9AC8-8101-651E-374F9EF8274B}"/>
              </a:ext>
            </a:extLst>
          </p:cNvPr>
          <p:cNvSpPr/>
          <p:nvPr/>
        </p:nvSpPr>
        <p:spPr>
          <a:xfrm>
            <a:off x="2369056" y="5105255"/>
            <a:ext cx="693556" cy="290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Pest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90" name="圆角矩形 189">
            <a:extLst>
              <a:ext uri="{FF2B5EF4-FFF2-40B4-BE49-F238E27FC236}">
                <a16:creationId xmlns:a16="http://schemas.microsoft.com/office/drawing/2014/main" id="{F74E756C-41E7-9EC4-1AB0-5B1A9DE08477}"/>
              </a:ext>
            </a:extLst>
          </p:cNvPr>
          <p:cNvSpPr/>
          <p:nvPr/>
        </p:nvSpPr>
        <p:spPr>
          <a:xfrm>
            <a:off x="3440458" y="4930562"/>
            <a:ext cx="759858" cy="290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Lizard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91" name="圆角矩形 190">
            <a:extLst>
              <a:ext uri="{FF2B5EF4-FFF2-40B4-BE49-F238E27FC236}">
                <a16:creationId xmlns:a16="http://schemas.microsoft.com/office/drawing/2014/main" id="{82D6E030-C9E9-91B5-3BF5-B289496DA0D7}"/>
              </a:ext>
            </a:extLst>
          </p:cNvPr>
          <p:cNvSpPr/>
          <p:nvPr/>
        </p:nvSpPr>
        <p:spPr>
          <a:xfrm>
            <a:off x="3440458" y="5355021"/>
            <a:ext cx="748998" cy="24753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Bird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sp>
        <p:nvSpPr>
          <p:cNvPr id="192" name="圆角矩形 191">
            <a:extLst>
              <a:ext uri="{FF2B5EF4-FFF2-40B4-BE49-F238E27FC236}">
                <a16:creationId xmlns:a16="http://schemas.microsoft.com/office/drawing/2014/main" id="{6601AF06-9191-AB1C-AB75-D2EFF3FCBB7B}"/>
              </a:ext>
            </a:extLst>
          </p:cNvPr>
          <p:cNvSpPr/>
          <p:nvPr/>
        </p:nvSpPr>
        <p:spPr>
          <a:xfrm>
            <a:off x="4543017" y="5125220"/>
            <a:ext cx="693556" cy="2906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500" dirty="0">
                <a:solidFill>
                  <a:schemeClr val="tx1"/>
                </a:solidFill>
              </a:rPr>
              <a:t>Eagle</a:t>
            </a:r>
            <a:endParaRPr kumimoji="1" lang="zh-CN" altLang="en-US" sz="1500" dirty="0">
              <a:solidFill>
                <a:schemeClr val="tx1"/>
              </a:solidFill>
            </a:endParaRPr>
          </a:p>
        </p:txBody>
      </p:sp>
      <p:cxnSp>
        <p:nvCxnSpPr>
          <p:cNvPr id="194" name="直线箭头连接符 193">
            <a:extLst>
              <a:ext uri="{FF2B5EF4-FFF2-40B4-BE49-F238E27FC236}">
                <a16:creationId xmlns:a16="http://schemas.microsoft.com/office/drawing/2014/main" id="{3E52AB2F-473F-0E17-494F-6F5628160E3E}"/>
              </a:ext>
            </a:extLst>
          </p:cNvPr>
          <p:cNvCxnSpPr>
            <a:stCxn id="188" idx="3"/>
          </p:cNvCxnSpPr>
          <p:nvPr/>
        </p:nvCxnSpPr>
        <p:spPr>
          <a:xfrm>
            <a:off x="2157974" y="5250575"/>
            <a:ext cx="211082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直线箭头连接符 195">
            <a:extLst>
              <a:ext uri="{FF2B5EF4-FFF2-40B4-BE49-F238E27FC236}">
                <a16:creationId xmlns:a16="http://schemas.microsoft.com/office/drawing/2014/main" id="{56296D4A-A7C9-F13C-77A5-180DF1D98AA0}"/>
              </a:ext>
            </a:extLst>
          </p:cNvPr>
          <p:cNvCxnSpPr>
            <a:cxnSpLocks/>
            <a:stCxn id="189" idx="3"/>
            <a:endCxn id="190" idx="1"/>
          </p:cNvCxnSpPr>
          <p:nvPr/>
        </p:nvCxnSpPr>
        <p:spPr>
          <a:xfrm flipV="1">
            <a:off x="3062612" y="5075882"/>
            <a:ext cx="377846" cy="17469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直线箭头连接符 197">
            <a:extLst>
              <a:ext uri="{FF2B5EF4-FFF2-40B4-BE49-F238E27FC236}">
                <a16:creationId xmlns:a16="http://schemas.microsoft.com/office/drawing/2014/main" id="{5CDCBD89-C115-C06D-4A02-DE75658CC8FB}"/>
              </a:ext>
            </a:extLst>
          </p:cNvPr>
          <p:cNvCxnSpPr>
            <a:cxnSpLocks/>
            <a:stCxn id="189" idx="3"/>
            <a:endCxn id="191" idx="1"/>
          </p:cNvCxnSpPr>
          <p:nvPr/>
        </p:nvCxnSpPr>
        <p:spPr>
          <a:xfrm>
            <a:off x="3062612" y="5250575"/>
            <a:ext cx="377846" cy="2282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直线箭头连接符 202">
            <a:extLst>
              <a:ext uri="{FF2B5EF4-FFF2-40B4-BE49-F238E27FC236}">
                <a16:creationId xmlns:a16="http://schemas.microsoft.com/office/drawing/2014/main" id="{D77E5098-DE30-F079-93D8-9F6E33890BC8}"/>
              </a:ext>
            </a:extLst>
          </p:cNvPr>
          <p:cNvCxnSpPr>
            <a:cxnSpLocks/>
            <a:endCxn id="192" idx="1"/>
          </p:cNvCxnSpPr>
          <p:nvPr/>
        </p:nvCxnSpPr>
        <p:spPr>
          <a:xfrm>
            <a:off x="4189456" y="5070189"/>
            <a:ext cx="353561" cy="20035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直线箭头连接符 205">
            <a:extLst>
              <a:ext uri="{FF2B5EF4-FFF2-40B4-BE49-F238E27FC236}">
                <a16:creationId xmlns:a16="http://schemas.microsoft.com/office/drawing/2014/main" id="{7C96CB80-0C00-CB99-2164-6417FA2D149B}"/>
              </a:ext>
            </a:extLst>
          </p:cNvPr>
          <p:cNvCxnSpPr>
            <a:cxnSpLocks/>
            <a:stCxn id="191" idx="3"/>
            <a:endCxn id="192" idx="1"/>
          </p:cNvCxnSpPr>
          <p:nvPr/>
        </p:nvCxnSpPr>
        <p:spPr>
          <a:xfrm flipV="1">
            <a:off x="4189456" y="5270540"/>
            <a:ext cx="353561" cy="20825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067AC210-8710-5266-DAF5-CFF6DEB17E45}"/>
              </a:ext>
            </a:extLst>
          </p:cNvPr>
          <p:cNvSpPr txBox="1"/>
          <p:nvPr/>
        </p:nvSpPr>
        <p:spPr>
          <a:xfrm>
            <a:off x="2071291" y="5054840"/>
            <a:ext cx="1037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10% </a:t>
            </a:r>
          </a:p>
          <a:p>
            <a:r>
              <a:rPr kumimoji="1" lang="en-US" altLang="zh-CN" sz="1000" dirty="0"/>
              <a:t>flow </a:t>
            </a:r>
            <a:endParaRPr kumimoji="1" lang="zh-CN" altLang="en-US" sz="1000" dirty="0"/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FC08FC2F-F26A-D9EE-8830-CF2ED227C10E}"/>
              </a:ext>
            </a:extLst>
          </p:cNvPr>
          <p:cNvSpPr txBox="1"/>
          <p:nvPr/>
        </p:nvSpPr>
        <p:spPr>
          <a:xfrm>
            <a:off x="3047545" y="5034273"/>
            <a:ext cx="1037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10% </a:t>
            </a:r>
          </a:p>
          <a:p>
            <a:r>
              <a:rPr kumimoji="1" lang="en-US" altLang="zh-CN" sz="1000" dirty="0"/>
              <a:t>flow </a:t>
            </a:r>
            <a:endParaRPr kumimoji="1" lang="zh-CN" altLang="en-US" sz="1000" dirty="0"/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CC4351B0-F64B-4ADE-93E1-C4B9D4CD9CB9}"/>
              </a:ext>
            </a:extLst>
          </p:cNvPr>
          <p:cNvSpPr txBox="1"/>
          <p:nvPr/>
        </p:nvSpPr>
        <p:spPr>
          <a:xfrm>
            <a:off x="4158374" y="5045300"/>
            <a:ext cx="1037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/>
              <a:t>10% </a:t>
            </a:r>
          </a:p>
          <a:p>
            <a:r>
              <a:rPr kumimoji="1" lang="en-US" altLang="zh-CN" sz="1000" dirty="0"/>
              <a:t>flow </a:t>
            </a:r>
            <a:endParaRPr kumimoji="1" lang="zh-CN" altLang="en-US" sz="1000" dirty="0"/>
          </a:p>
        </p:txBody>
      </p:sp>
      <p:sp>
        <p:nvSpPr>
          <p:cNvPr id="215" name="下箭头 214">
            <a:extLst>
              <a:ext uri="{FF2B5EF4-FFF2-40B4-BE49-F238E27FC236}">
                <a16:creationId xmlns:a16="http://schemas.microsoft.com/office/drawing/2014/main" id="{9F167357-C682-062F-C068-E3A5820CC97E}"/>
              </a:ext>
            </a:extLst>
          </p:cNvPr>
          <p:cNvSpPr/>
          <p:nvPr/>
        </p:nvSpPr>
        <p:spPr>
          <a:xfrm>
            <a:off x="8306936" y="2255336"/>
            <a:ext cx="306061" cy="178771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673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4075</TotalTime>
  <Words>133</Words>
  <Application>Microsoft Macintosh PowerPoint</Application>
  <PresentationFormat>宽屏</PresentationFormat>
  <Paragraphs>54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Yuhan Wei</dc:creator>
  <cp:lastModifiedBy>Yuhan Wei</cp:lastModifiedBy>
  <cp:revision>1</cp:revision>
  <dcterms:created xsi:type="dcterms:W3CDTF">2025-01-25T10:24:19Z</dcterms:created>
  <dcterms:modified xsi:type="dcterms:W3CDTF">2025-01-28T06:20:05Z</dcterms:modified>
</cp:coreProperties>
</file>